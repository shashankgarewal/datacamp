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48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6D57D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560320" cy="320040"/>
          </a:xfrm>
          <a:prstGeom prst="rect">
            <a:avLst/>
          </a:prstGeom>
          <a:solidFill>
            <a:srgbClr val="36D57D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High-Traffic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for the Homepage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4114800" cy="0"/>
          </a:xfrm>
          <a:prstGeom prst="line">
            <a:avLst/>
          </a:prstGeom>
          <a:noFill/>
          <a:ln w="1905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Product Manager — Recipe Discovery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 Data Scientist Professional Practical Exam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1920240" cy="777240"/>
          </a:xfrm>
          <a:prstGeom prst="rect">
            <a:avLst/>
          </a:prstGeom>
          <a:solidFill>
            <a:srgbClr val="0D2E50"/>
          </a:solidFill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Recipes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4114800"/>
            <a:ext cx="1920240" cy="777240"/>
          </a:xfrm>
          <a:prstGeom prst="rect">
            <a:avLst/>
          </a:prstGeom>
          <a:solidFill>
            <a:srgbClr val="0D2E50"/>
          </a:solidFill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06040" y="4133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Recipes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4114800"/>
            <a:ext cx="1920240" cy="777240"/>
          </a:xfrm>
          <a:prstGeom prst="rect">
            <a:avLst/>
          </a:prstGeom>
          <a:solidFill>
            <a:srgbClr val="0D2E50"/>
          </a:solidFill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0" y="4133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High-Traffic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4114800"/>
            <a:ext cx="1920240" cy="777240"/>
          </a:xfrm>
          <a:prstGeom prst="rect">
            <a:avLst/>
          </a:prstGeom>
          <a:solidFill>
            <a:srgbClr val="0D2E50"/>
          </a:solidFill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03720" y="4133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AUC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Goal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41148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4114800" cy="365760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recipes will lead to high website traffic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 high-traffic recipes ≥ 80% of the 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popular homepage recipe drives up to 40% more site traffic → more subscriptions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3840480" cy="1737360"/>
          </a:xfrm>
          <a:prstGeom prst="rect">
            <a:avLst/>
          </a:prstGeom>
          <a:solidFill>
            <a:srgbClr val="EBF7F2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Clarification on '80% of the time'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55264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Recall: We correctly identify 80% of all high-traffic recipes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Precision: 80% of our homepage picks actually drive high traffic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ideal scenario I'd clarify with the client. Given the goal is to minimise bad homepage picks, we optimised for Precision.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594360"/>
            <a:ext cx="416052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594360"/>
            <a:ext cx="4160520" cy="365760"/>
          </a:xfrm>
          <a:prstGeom prst="rect">
            <a:avLst/>
          </a:prstGeom>
          <a:solidFill>
            <a:srgbClr val="FF9400"/>
          </a:solidFill>
          <a:ln w="12700">
            <a:solidFill>
              <a:srgbClr val="FF9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5943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097280"/>
            <a:ext cx="822960" cy="822960"/>
          </a:xfrm>
          <a:prstGeom prst="ellipse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060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1234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site traffic from a popular recipe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822960" cy="822960"/>
          </a:xfrm>
          <a:prstGeom prst="ellipse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06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 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subscriptions from higher traffic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474720"/>
            <a:ext cx="822960" cy="822960"/>
          </a:xfrm>
          <a:prstGeom prst="ellipse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3611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precision target to hit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 recipes · 8 columns · all cleaning decisions documented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553739"/>
              </p:ext>
            </p:extLst>
          </p:nvPr>
        </p:nvGraphicFramePr>
        <p:xfrm>
          <a:off x="479323" y="1421130"/>
          <a:ext cx="7680960" cy="2301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calories / carbohydrate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 / protein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rows (5.5%)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all 4 simultaneously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with column 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(robust to right skew)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AD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'Chicken Breast' not in 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 vs 10 expected categories)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into 'Chicken'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AD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format: '4 as a snack'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plain numeric '4'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numeric value,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to 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AD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high_traffic (target)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 rows (39.4%) unlabelled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never featured on homepage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 on 574 labelled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'High' → 1, else →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AD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Nutrition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 recipes: reported calories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match macro totals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as-is (same data users saw);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inaccuracy flag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— Single Variable Plots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3037683" cy="317269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145" y="548640"/>
            <a:ext cx="5454535" cy="4297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moderately imbalanced (60/40)  ·  Chicken has the most recipes but Vegetable/Potato convert to high traffic most frequently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— Multi-Variable: Category vs Traffic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30352"/>
            <a:ext cx="594360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658368"/>
            <a:ext cx="25146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355080" y="658368"/>
            <a:ext cx="64008" cy="1261872"/>
          </a:xfrm>
          <a:prstGeom prst="rect">
            <a:avLst/>
          </a:prstGeom>
          <a:solidFill>
            <a:srgbClr val="36D57D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92240" y="74980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Vegetable, Potato &amp; Pork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2240" y="1078992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100% high-traffic share — the strongest category predictors in the dataset.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55080" y="2075688"/>
            <a:ext cx="25146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355080" y="2075688"/>
            <a:ext cx="64008" cy="1261872"/>
          </a:xfrm>
          <a:prstGeom prst="rect">
            <a:avLst/>
          </a:prstGeom>
          <a:solidFill>
            <a:srgbClr val="FF9400"/>
          </a:solidFill>
          <a:ln w="12700">
            <a:solidFill>
              <a:srgbClr val="FF9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92240" y="216712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&amp; Breakfast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2496312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low-traffic categories — avoid featuring unless no alternatives.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55080" y="3493008"/>
            <a:ext cx="25146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355080" y="3493008"/>
            <a:ext cx="64008" cy="1261872"/>
          </a:xfrm>
          <a:prstGeom prst="rect">
            <a:avLst/>
          </a:prstGeom>
          <a:solidFill>
            <a:srgbClr val="06BDFC"/>
          </a:solidFill>
          <a:ln w="12700">
            <a:solidFill>
              <a:srgbClr val="06BD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92240" y="35844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features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913632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(not shown) confirm heavy overlap between High/Low — weak standalone predictors.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— High Traffic (1) vs Not High (0)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576072"/>
            <a:ext cx="8503920" cy="347472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5760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Binary Classification  ·  Split: 80/20 stratified  ·  CV: 5-fold StratifiedKFold  ·  Tuning: GridSearchCV on train set only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0690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069080" cy="338328"/>
          </a:xfrm>
          <a:prstGeom prst="rect">
            <a:avLst/>
          </a:prstGeom>
          <a:solidFill>
            <a:srgbClr val="36D57D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3886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Logistic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356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1435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interpretable, well-suited to linearly separable classification. Coefficients directly show which categories drive high traffic.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939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17320" y="20939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category dummies + log-transformed nutritional features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752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27523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 C ∈ {0.01, 0.1, 1, 10, 100}, L2 penalty, lbfgs solver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410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3410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  ·  Best CV AUC: 0.820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261104"/>
            <a:ext cx="4069080" cy="475488"/>
          </a:xfrm>
          <a:prstGeom prst="rect">
            <a:avLst/>
          </a:prstGeom>
          <a:solidFill>
            <a:srgbClr val="EBF7F2"/>
          </a:solidFill>
          <a:ln w="635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42611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AUC: 0.864  |  Precision: 0.85  |  Recall: 0.77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0872" y="1005840"/>
            <a:ext cx="40690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90872" y="1005840"/>
            <a:ext cx="4069080" cy="338328"/>
          </a:xfrm>
          <a:prstGeom prst="rect">
            <a:avLst/>
          </a:prstGeom>
          <a:solidFill>
            <a:srgbClr val="06BDFC"/>
          </a:solidFill>
          <a:ln w="12700">
            <a:solidFill>
              <a:srgbClr val="06BD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82312" y="1005840"/>
            <a:ext cx="3886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— Decision Tree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14356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88152" y="1435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Non-parametric, captures non-linear interactions, produces interpretable rules for non-technical stakeholders.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20939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88152" y="20939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 set as Logistic Regression (one-hot + log-transformed)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2752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88152" y="27523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 max_depth, min_samples_split, min_samples_leaf, ccp_alpha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3410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88152" y="3410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max_depth=9, ccp_alpha=0.005  ·  Best CV AUC: 0.786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90872" y="4261104"/>
            <a:ext cx="4069080" cy="475488"/>
          </a:xfrm>
          <a:prstGeom prst="rect">
            <a:avLst/>
          </a:prstGeom>
          <a:solidFill>
            <a:srgbClr val="EAF3FC"/>
          </a:solidFill>
          <a:ln w="6350">
            <a:solidFill>
              <a:srgbClr val="06BD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82312" y="42611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AUC: 0.839  |  Precision: 0.83  |  Recall: 0.76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used internally to compare · Precision/Recall reported to business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6072"/>
          <a:ext cx="8092440" cy="14655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 ± 0.080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(Tuned)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 ± 0.045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23160"/>
            <a:ext cx="5943600" cy="2578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46520" y="2423160"/>
            <a:ext cx="2423160" cy="2578608"/>
          </a:xfrm>
          <a:prstGeom prst="rect">
            <a:avLst/>
          </a:prstGeom>
          <a:solidFill>
            <a:srgbClr val="EBF7F2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4"/>
          <p:cNvSpPr/>
          <p:nvPr/>
        </p:nvSpPr>
        <p:spPr>
          <a:xfrm>
            <a:off x="6537960" y="2496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Winner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37960" y="2788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Logistic Regression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537960" y="3090672"/>
            <a:ext cx="22677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0.85 → exceeds 80% target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0.864 → best overall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0.80 → balanced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via coefficients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dominates — nutritional features are secondary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30352"/>
            <a:ext cx="603504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658368"/>
            <a:ext cx="24231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446520" y="658368"/>
            <a:ext cx="64008" cy="1298448"/>
          </a:xfrm>
          <a:prstGeom prst="rect">
            <a:avLst/>
          </a:prstGeom>
          <a:solidFill>
            <a:srgbClr val="36D57D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583680" y="7498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categories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069848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Vegetable, Potato &amp; Pork have the largest positive coefficients. These are your best bets for the homepage.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46520" y="2103120"/>
            <a:ext cx="24231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46520" y="2103120"/>
            <a:ext cx="64008" cy="1298448"/>
          </a:xfrm>
          <a:prstGeom prst="rect">
            <a:avLst/>
          </a:prstGeom>
          <a:solidFill>
            <a:srgbClr val="FF9400"/>
          </a:solidFill>
          <a:ln w="12700">
            <a:solidFill>
              <a:srgbClr val="FF9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583680" y="219456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features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2514600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Protein, sugar, calories show near-zero coefficients. They contribute marginally once category is accounted for.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46520" y="3547872"/>
            <a:ext cx="24231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446520" y="3547872"/>
            <a:ext cx="64008" cy="1298448"/>
          </a:xfrm>
          <a:prstGeom prst="rect">
            <a:avLst/>
          </a:prstGeom>
          <a:solidFill>
            <a:srgbClr val="06BDFC"/>
          </a:solidFill>
          <a:ln w="12700">
            <a:solidFill>
              <a:srgbClr val="06BD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583680" y="363931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0" y="3959352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essentially a sophisticated category-based recommender. Category scheduling is the most impactful lever.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 to Monitor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8503920" cy="1188720"/>
          </a:xfrm>
          <a:prstGeom prst="rect">
            <a:avLst/>
          </a:prstGeom>
          <a:solidFill>
            <a:srgbClr val="05192D"/>
          </a:solidFill>
          <a:ln w="12700">
            <a:solidFill>
              <a:srgbClr val="0519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High-Traffic Precision Rate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Rate  =  Recipes that drove High Traffic  ÷  Total Recipes Featured on Homepage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651760" cy="54864"/>
          </a:xfrm>
          <a:prstGeom prst="rect">
            <a:avLst/>
          </a:prstGeom>
          <a:solidFill>
            <a:srgbClr val="36D57D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6D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2715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1272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of 100 picks drive high traffic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2651760" cy="54864"/>
          </a:xfrm>
          <a:prstGeom prst="rect">
            <a:avLst/>
          </a:prstGeom>
          <a:solidFill>
            <a:srgbClr val="FF9400"/>
          </a:solidFill>
          <a:ln w="12700">
            <a:solidFill>
              <a:srgbClr val="FF9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0" y="2029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00400" y="2715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1272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acceptable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080760" y="1920240"/>
            <a:ext cx="2651760" cy="54864"/>
          </a:xfrm>
          <a:prstGeom prst="rect">
            <a:avLst/>
          </a:prstGeom>
          <a:solidFill>
            <a:srgbClr val="06BDFC"/>
          </a:solidFill>
          <a:ln w="12700">
            <a:solidFill>
              <a:srgbClr val="06BD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80760" y="2029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80760" y="2715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Uplift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Win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31272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traffic from popular recipe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85039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0040" y="3547872"/>
            <a:ext cx="64008" cy="1353312"/>
          </a:xfrm>
          <a:prstGeom prst="rect">
            <a:avLst/>
          </a:prstGeom>
          <a:solidFill>
            <a:srgbClr val="36D57D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36027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Monitor in Production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rolling 30-day Precision Rate  ·  </a:t>
            </a:r>
            <a:r>
              <a:rPr lang="en-US" sz="1100" b="1" dirty="0">
                <a:solidFill>
                  <a:srgbClr val="FF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at 0.80  ·  </a:t>
            </a:r>
            <a:r>
              <a:rPr lang="en-US" sz="1100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drops → model review &amp; retrain with recent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279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estimate: 85 in every 100 model-selected homepage recipes are predicted to drive high traffic.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6D57D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200400" cy="0"/>
          </a:xfrm>
          <a:prstGeom prst="line">
            <a:avLst/>
          </a:prstGeom>
          <a:noFill/>
          <a:ln w="1905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4206240" cy="1207008"/>
          </a:xfrm>
          <a:prstGeom prst="rect">
            <a:avLst/>
          </a:prstGeom>
          <a:solidFill>
            <a:srgbClr val="0D2E50"/>
          </a:solidFill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21208" y="1188720"/>
            <a:ext cx="566928" cy="566928"/>
          </a:xfrm>
          <a:prstGeom prst="ellipse">
            <a:avLst/>
          </a:prstGeom>
          <a:solidFill>
            <a:srgbClr val="36D57D"/>
          </a:solidFill>
          <a:ln w="12700">
            <a:solidFill>
              <a:srgbClr val="36D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16152" y="987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Tuned Logistic Regression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16152" y="133502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0.85 — exceeds the 80% business target. Interpretable, fast, and easy to maintain in production.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67712"/>
            <a:ext cx="4206240" cy="1207008"/>
          </a:xfrm>
          <a:prstGeom prst="rect">
            <a:avLst/>
          </a:prstGeom>
          <a:solidFill>
            <a:srgbClr val="0D2E50"/>
          </a:solidFill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21208" y="2542032"/>
            <a:ext cx="566928" cy="566928"/>
          </a:xfrm>
          <a:prstGeom prst="ellipse">
            <a:avLst/>
          </a:prstGeom>
          <a:solidFill>
            <a:srgbClr val="06BDFC"/>
          </a:solidFill>
          <a:ln w="12700">
            <a:solidFill>
              <a:srgbClr val="06BD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1208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16152" y="2340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Vegetable, Potato &amp; Pork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16152" y="268833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positive model coefficients. Homepage scheduling should favour these when multiple candidates are available.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621024"/>
            <a:ext cx="4206240" cy="1207008"/>
          </a:xfrm>
          <a:prstGeom prst="rect">
            <a:avLst/>
          </a:prstGeom>
          <a:solidFill>
            <a:srgbClr val="0D2E50"/>
          </a:solidFill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21208" y="3895344"/>
            <a:ext cx="566928" cy="566928"/>
          </a:xfrm>
          <a:prstGeom prst="ellipse">
            <a:avLst/>
          </a:prstGeom>
          <a:solidFill>
            <a:srgbClr val="FF9400"/>
          </a:solidFill>
          <a:ln w="12700">
            <a:solidFill>
              <a:srgbClr val="FF9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21208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16152" y="36941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Precision Rate Monthly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16152" y="404164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0.80 alert threshold. If precision drops, investigate category mix shifts and retrain with recent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914400"/>
            <a:ext cx="4206240" cy="1207008"/>
          </a:xfrm>
          <a:prstGeom prst="rect">
            <a:avLst/>
          </a:prstGeom>
          <a:solidFill>
            <a:srgbClr val="0D2E50"/>
          </a:solidFill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93208" y="1188720"/>
            <a:ext cx="566928" cy="566928"/>
          </a:xfrm>
          <a:prstGeom prst="ellipse">
            <a:avLst/>
          </a:prstGeom>
          <a:solidFill>
            <a:srgbClr val="8468C4"/>
          </a:solidFill>
          <a:ln w="12700">
            <a:solidFill>
              <a:srgbClr val="846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93208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88152" y="987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A/B Test Before Full Rollout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88152" y="133502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selections vs current manual picks for 4–6 weeks to quantify real-world traffic uplift.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267712"/>
            <a:ext cx="4206240" cy="1207008"/>
          </a:xfrm>
          <a:prstGeom prst="rect">
            <a:avLst/>
          </a:prstGeom>
          <a:solidFill>
            <a:srgbClr val="0D2E50"/>
          </a:solidFill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93208" y="2542032"/>
            <a:ext cx="566928" cy="566928"/>
          </a:xfrm>
          <a:prstGeom prst="ellipse">
            <a:avLst/>
          </a:prstGeom>
          <a:solidFill>
            <a:srgbClr val="69788C"/>
          </a:solidFill>
          <a:ln w="12700">
            <a:solidFill>
              <a:srgbClr val="6978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93208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88152" y="2340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Labelled Data Over 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88152" y="268833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recipes have no traffic label yet. As more are featured, the training set grows for future retraining.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1A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996</Words>
  <Application>Microsoft Office PowerPoint</Application>
  <PresentationFormat>On-screen Show (16:9)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 Traffic Prediction</dc:title>
  <dc:subject>PptxGenJS Presentation</dc:subject>
  <dc:creator>PptxGenJS</dc:creator>
  <cp:lastModifiedBy>Shashank G</cp:lastModifiedBy>
  <cp:revision>2</cp:revision>
  <dcterms:created xsi:type="dcterms:W3CDTF">2026-02-23T04:40:19Z</dcterms:created>
  <dcterms:modified xsi:type="dcterms:W3CDTF">2026-02-23T04:55:11Z</dcterms:modified>
</cp:coreProperties>
</file>